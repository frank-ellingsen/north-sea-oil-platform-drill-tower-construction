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tIns="2011680"/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OFFSHORE EPC PLATFORM DRILL TOWER PROJECT</a:t>
            </a:r>
          </a:p>
          <a:p>
            <a:pPr>
              <a:defRPr sz="1800">
                <a:solidFill>
                  <a:srgbClr val="2563EB"/>
                </a:solidFill>
              </a:defRPr>
            </a:pPr>
            <a:r>
              <a:t>Executive Steering Committee Status Briefing &amp; Commercial Appraisal</a:t>
            </a:r>
          </a:p>
          <a:p>
            <a:br/>
            <a:pPr>
              <a:defRPr sz="1300">
                <a:solidFill>
                  <a:srgbClr val="9CA3AF"/>
                </a:solidFill>
              </a:defRPr>
            </a:pPr>
            <a:r>
              <a:t>Status Date: August 31, 2026 (Month 8 / Status Week 36)</a:t>
            </a:r>
            <a:br/>
            <a:r>
              <a:t>Author: Frank Ellingsen, Lead Project 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PROJECT HEALTH &amp; CORE EVM DASHBOARD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Month 8 (Aug 2026) Earned Value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 Contract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$26,500,000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Planned Value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$20,500,000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77.4% Planned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Earned Value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$17,540,000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66.2% Complete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Cumulative Actual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$23,440,000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CRITICAL OVERRUN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Cost Efficiency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Red ($0.75 / $1.00)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SPI_t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Earned Schedule 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Amber (-18.2 Days)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280160"/>
            <a:ext cx="3657600" cy="50292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b="1" sz="1600">
                <a:solidFill>
                  <a:srgbClr val="DC2626"/>
                </a:solidFill>
              </a:defRPr>
            </a:pPr>
            <a:r>
              <a:t>🚨 EXECUTIVE ALERT</a:t>
            </a:r>
          </a:p>
          <a:p>
            <a:br/>
            <a:pPr>
              <a:defRPr sz="1200">
                <a:solidFill>
                  <a:srgbClr val="111827"/>
                </a:solidFill>
              </a:defRPr>
            </a:pPr>
            <a:r>
              <a:t>• Baseline Budget Depletion: Month 9 (Sep 2026)</a:t>
            </a:r>
            <a:br/>
            <a:r>
              <a:t>• Required Financing Line: +$8,913,604</a:t>
            </a:r>
            <a:br/>
            <a:r>
              <a:t>• Outturn Cost EAC: $35.41M (+33.6% Overrun)</a:t>
            </a:r>
            <a:br/>
            <a:r>
              <a:t>• Outturn Completion: Jan 31, 2027 (+31 Days Delay)</a:t>
            </a:r>
            <a:br/>
            <a:r>
              <a:t>• Primary Driver: Egersund Mast Rework ($2.40M) &amp; Delay Overhead ($3.81M)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COMMERCIAL CAPITAL BUDGETING &amp; APPRAISAL RATIOS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Project Investment Return Metrics (10.0% WACC Hurdle Rate)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Commercial 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Calculated 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Benchmark / Hurdle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Commercial Evaluation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Net Present Value (NPV @ 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+$14,899,563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$0.00 Hurdle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Strong Positive Net Capital Value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Internal Rate of Return (IRR)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10.0% Hurdle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Outperforms Hurdle Target by +886 bps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Simple Payback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4.43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5.0 Years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53.1 Months (May 2031) Payback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Profitability Index (PI)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&gt; 1.0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Generates $1.42 PV per $1.00 spent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Simple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134.37%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100.0%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 10-Year Cumulative Return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Annualized ROI (CAGR)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8.89%/Year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5.0% Risk-Free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Compounded Annual Growth Rate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Gross Future Value (FV Yr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$130,499,397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CAPEX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 Operating Inflow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Net Future Value (NFV)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+$38,645,628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CAPEX Outturn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Net Future Cash Surplus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MONTE CARLO RISK SIMULATION (10,000 ITERATIONS)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Statistical Outturn Percentiles &amp; Contingency Reserves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Percentile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Confidence Level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Outturn EAC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Cost Overrun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Completion Date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Schedule Delay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10% Optimistic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$32,444,302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-$5,944,302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13,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+43.1 Days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50%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$34,060,783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-$7,560,783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 27,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+57.3 Days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80% Standard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$35,195,026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-$8,695,026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09,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+67.3 Days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P90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90% High Confidence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$35,815,202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-$9,315,202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Mar 14, 2027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+72.5 Days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 Extreme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$36,272,986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-$9,772,986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18,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+76.6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5577840"/>
            <a:ext cx="112772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P90 HIGH-CONFIDENCE TARGET: $35,815,202 Outturn Cost | March 14, 2027 Completion Date</a:t>
            </a:r>
            <a:br/>
            <a:r>
              <a:t>Contingency Reserve Needed: +$401,598 above base EAC to achieve 90% financial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5X5 EXECUTIVE RISK MATRIX &amp; ACTIVE REGISTER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Top Project Risks R01 - R05 with Financial Exposure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 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 Title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Financial Exposure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EMV Value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Accountable CAM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Egersund Derrick Mast Yard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5x5 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Lars Hansen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North Sea Weather Standby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4x4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$720,000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Erik Solberg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Tubular Steel Price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3x3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Ingrid Berg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DNV Structural Redesign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2x3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Geir Nilsen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Offshore Hook-up Crew Bottleneck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2x2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Bjørn Lie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COST VARIANCE WATERFALL BRIDGE ($BAC TO EAC)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Step-by-Step Cost Overrun Progression across Control Accounts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Control Account / Variance Component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Incremental Overrun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Cumulative Cost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% Contribution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Original Baseline Budget (BAC)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$26,500,000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$26,500,000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Detail Structural Engineering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$26,800,000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3.4%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Procurement Steel Price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$27,400,000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Verdal Sub-Structure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$27,600,000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Egersund Derrick Mast Yard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+$2,400,000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$30,000,000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26.9%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Heavy Lift Vessel Weather 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+$1,300,000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$31,300,000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14.6%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Offshore Topside Lifting &amp; Mating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$31,400,000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Hook-up &amp; Commissioning Crew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+$200,000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$31,600,000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Time Delay Overhead Spread (SPI_t)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+$3,813,604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$35,413,604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42.8%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STEERING COMMITTEE DECISION MATRIX &amp; ACTION PLAN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Required Executive Approvals &amp; Project Recovery Directives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solidFill>
            <a:srgbClr val="F9FAFB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defRPr b="1" sz="1600">
                <a:solidFill>
                  <a:srgbClr val="111827"/>
                </a:solidFill>
              </a:defRPr>
            </a:pPr>
            <a:r>
              <a:t>RECOMMENDED STEERING COMMITTEE ACTIONS: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1. AUTHORIZE +$8.91M OVERRUN FINANCING LINE:</a:t>
            </a:r>
          </a:p>
          <a:p>
            <a:pPr>
              <a:defRPr sz="1100">
                <a:solidFill>
                  <a:srgbClr val="111827"/>
                </a:solidFill>
              </a:defRPr>
            </a:pPr>
            <a:r>
              <a:t>   • Executive Board approval required before September 15, 2026 to prevent Month 9 yard shutdown.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2. ENFORCE FIXED-FEE CAP ON EGERSUND YARD BILLING:</a:t>
            </a:r>
          </a:p>
          <a:p>
            <a:pPr>
              <a:defRPr sz="1100">
                <a:solidFill>
                  <a:srgbClr val="111827"/>
                </a:solidFill>
              </a:defRPr>
            </a:pPr>
            <a:r>
              <a:t>   • Transition remaining Derrick Mast assembly hours to a fixed-fee cap to halt further cost escalation.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3. COMPRESS OFFSHORE HOOK-UP SCHEDULE:</a:t>
            </a:r>
          </a:p>
          <a:p>
            <a:pPr>
              <a:defRPr sz="1100">
                <a:solidFill>
                  <a:srgbClr val="111827"/>
                </a:solidFill>
              </a:defRPr>
            </a:pPr>
            <a:r>
              <a:t>   • Recover 15 calendar days along the critical path to preserve the January 31, 2027 Commercial COD.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