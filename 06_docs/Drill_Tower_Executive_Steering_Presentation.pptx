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0" tIns="201168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North Sea Oil Platform Drill Tower Construction</a:t>
            </a:r>
          </a:p>
          <a:p>
            <a:pPr>
              <a:defRPr sz="1800">
                <a:solidFill>
                  <a:srgbClr val="9CA3AF"/>
                </a:solidFill>
              </a:defRPr>
            </a:pPr>
            <a:r>
              <a:t>Integrated Earned Value Management (EVM), Schedule Control &amp; Risk Briefing</a:t>
            </a:r>
          </a:p>
          <a:p>
            <a:br/>
            <a:pPr>
              <a:defRPr sz="1200">
                <a:solidFill>
                  <a:srgbClr val="D1D5DB"/>
                </a:solidFill>
              </a:defRPr>
            </a:pPr>
            <a:r>
              <a:t>Status Date: August 31, 2026 (Month 8 / Week 36)   |   Prepared By: Frank Ellingsen, Lead Project Controller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1. Executive Steering Committee Status Briefing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Overall Project Health: 🚨 CRITICAL COST OVERRUN &amp; SCHEDULE SLIPPAGE (RED)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50292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🚨 OVERALL HEALTH: CRITICAL (RED)   |   BAC Budget Burn Out: Month 9 (Sep 2026)   |   Required Financing: +$8.91M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103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BASELINE BUDGET (BAC)</a:t>
            </a:r>
          </a:p>
          <a:p>
            <a:pPr>
              <a:defRPr sz="1800" b="1">
                <a:solidFill>
                  <a:srgbClr val="111827"/>
                </a:solidFill>
              </a:defRPr>
            </a:pPr>
            <a:r>
              <a:t>$26.50M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Approved baseline target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2103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EARNED VALUE (EV)</a:t>
            </a:r>
          </a:p>
          <a:p>
            <a:pPr>
              <a:defRPr sz="1800" b="1">
                <a:solidFill>
                  <a:srgbClr val="059669"/>
                </a:solidFill>
              </a:defRPr>
            </a:pPr>
            <a:r>
              <a:t>$17.54M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66.2% Work 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828800"/>
            <a:ext cx="2103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ACTUAL SPEND (AC)</a:t>
            </a:r>
          </a:p>
          <a:p>
            <a:pPr>
              <a:defRPr sz="1800" b="1">
                <a:solidFill>
                  <a:srgbClr val="DC2626"/>
                </a:solidFill>
              </a:defRPr>
            </a:pPr>
            <a:r>
              <a:t>$23.44M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Spent to 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828800"/>
            <a:ext cx="2103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COST INDEX (CPI)</a:t>
            </a:r>
          </a:p>
          <a:p>
            <a:pPr>
              <a:defRPr sz="1800" b="1">
                <a:solidFill>
                  <a:srgbClr val="DC2626"/>
                </a:solidFill>
              </a:defRPr>
            </a:pPr>
            <a:r>
              <a:t>0.75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Severe overrun ($0.75/$1)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828800"/>
            <a:ext cx="213329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TIME INDEX (SPIT)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0.925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-18.2 Days Schedule Slip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017520"/>
          <a:ext cx="5394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EAC Outturn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Completion Date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Deterministic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$35,413,604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Jan 31, 2027 (+31d)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Monte Carlo 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$34,060,783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Feb 27, 2027 (+57d)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Monte Carlo 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$35,815,202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Mar 14, 2027 (+72d)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126480" y="3017520"/>
            <a:ext cx="5608015" cy="338328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t>REQUIRED STEERING COMMITTEE ACTIONS</a:t>
            </a:r>
          </a:p>
          <a:p>
            <a:pPr>
              <a:spcAft>
                <a:spcPts val="800"/>
              </a:spcAft>
              <a:defRPr sz="1050">
                <a:solidFill>
                  <a:srgbClr val="111827"/>
                </a:solidFill>
              </a:defRPr>
            </a:pPr>
            <a:r>
              <a:t>1. Authorize Overrun Credit Line: Secure +$8.91M financing before September 15, 2026 (Month 9 budget exhaustion).</a:t>
            </a:r>
          </a:p>
          <a:p>
            <a:pPr>
              <a:spcAft>
                <a:spcPts val="800"/>
              </a:spcAft>
              <a:defRPr sz="1050">
                <a:solidFill>
                  <a:srgbClr val="111827"/>
                </a:solidFill>
              </a:defRPr>
            </a:pPr>
            <a:r>
              <a:t>2. Cap Yard Rework Billing: Transition Egersund yard (WBS 1.3.2) to a fixed-fee labor cap for remaining mast assembly.</a:t>
            </a:r>
          </a:p>
          <a:p>
            <a:pPr>
              <a:spcAft>
                <a:spcPts val="800"/>
              </a:spcAft>
              <a:defRPr sz="1050">
                <a:solidFill>
                  <a:srgbClr val="111827"/>
                </a:solidFill>
              </a:defRPr>
            </a:pPr>
            <a:r>
              <a:t>3. Compress Offshore Hook-up: Recover 15 calendar days to preserve January 31, 2027 Commercial COD.</a:t>
            </a:r>
          </a:p>
          <a:p>
            <a:pPr>
              <a:spcAft>
                <a:spcPts val="800"/>
              </a:spcAft>
              <a:defRPr sz="1050">
                <a:solidFill>
                  <a:srgbClr val="111827"/>
                </a:solidFill>
              </a:defRPr>
            </a:pPr>
            <a:r>
              <a:t>4. Enforce Change Freeze: Freeze all pending baseline scope change requests across WBS 1.3 deliverables.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2. Monthly Cash Burn Speed &amp; Budget Depletion Forecast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Exact BAC Budget Exhaustion Point: Month 9 (September 2026)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AVG MONTHLY CASH BURN</a:t>
            </a:r>
          </a:p>
          <a:p>
            <a:pPr>
              <a:defRPr sz="1800" b="1">
                <a:solidFill>
                  <a:srgbClr val="DC2626"/>
                </a:solidFill>
              </a:defRPr>
            </a:pPr>
            <a:r>
              <a:t>$2.93M / Mo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Baseline Plan: $2.56M/Mo (+14.5%)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2801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REMAINING CAPITAL ($BAC-AC)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$3.06M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$23.44M spent of $26.50M BAC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280160"/>
            <a:ext cx="265176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BUDGET BURN OUT MONTH</a:t>
            </a:r>
          </a:p>
          <a:p>
            <a:pPr>
              <a:defRPr sz="1800" b="1">
                <a:solidFill>
                  <a:srgbClr val="DC2626"/>
                </a:solidFill>
              </a:defRPr>
            </a:pPr>
            <a:r>
              <a:t>Month 9 (Sep 2026)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100% of BAC budget exhausted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280160"/>
            <a:ext cx="277337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REQUIRED OVERRUN FINANCING</a:t>
            </a:r>
          </a:p>
          <a:p>
            <a:pPr>
              <a:defRPr sz="1800" b="1">
                <a:solidFill>
                  <a:srgbClr val="DC2626"/>
                </a:solidFill>
              </a:defRPr>
            </a:pPr>
            <a:r>
              <a:t>+$8,913,604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Must be approved before Sep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560320"/>
          <a:ext cx="1127729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9319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Planned Monthly ($PV)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Earned Monthly ($EV)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Actual Monthly ($AC)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Budget Status &amp; Runway Note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Month 1 (Jan)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$0.30M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$0.30M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$0.32M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Engineering ramp-up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Month 2 (Feb)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$0.90M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$0.84M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$0.95M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Detail steel design completed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Month 3 (Mar)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$2.70M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$2.26M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$2.90M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Procurement placement delays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Month 4 (Apr)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$3.80M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$3.52M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$4.05M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Verdal yard fabrication start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Month 5 (May)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$3.00M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$2.90M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$3.22M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Sub-structure assembly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Month 6 (Jun)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$4.00M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$2.75M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$4.45M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Egersund mast dimensional fitting rework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Month 7 (Jul)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$3.00M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$2.62M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$3.85M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Double-shift NDT welding hours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Month 8 (Aug)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$2.80M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$2.35M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$3.70M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Status Date: $23.44M cumulative spend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Month 9 (Sep)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$2.50M (FC)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$2.10M (FC)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$3.20M (FC)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💥 100% BAC Budget Exhausted (Sep 2026)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3. Cost Variance Waterfall Bridge ($BAC → EAC Outturn)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Step-by-Step Cost Variance Drivers from Baseline to Outturn Forecast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65512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WBS / Step Description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Variance Amount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Impact Category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Driver &amp; Root Cause Analysis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Approved Baseline Budget ($BAC)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$26.50M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Original contract baseline target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WBS 1.1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+$0.30M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Scope Rework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Minor drafting revision hours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WBS 1.2 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+$0.60M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Material Inflation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High-grade tubular steel price surge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WBS 1.3.1 Verdal Yard Fabrication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+$0.20M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Yard Overtime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Welder shift overtime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WBS 1.3.2 Egersund Mast 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+$2.40M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Primary Rework 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Pipe fitting misalignment &amp; 24/7 NDT welding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WBS 1.4.1 Heavy Lift Vessel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+$1.30M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Marine 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Autumn sea-state vessel standby daily rates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WBS 1.4.2 Topside Mating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+$0.10M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Offshore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Offshore trial fitting hours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WBS 1.5 Commissioning &amp; Hook-up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+$0.20M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System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Pre-commissioning loops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Time Delay Overhead Spread (SPIt)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+$3.81M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Schedule Overhead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Extending execution past Dec 31 spreads PMO &amp; site overhead</a:t>
                      </a:r>
                    </a:p>
                  </a:txBody>
                  <a:tcPr/>
                </a:tc>
              </a:tr>
              <a:tr h="465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827"/>
                          </a:solidFill>
                        </a:defRPr>
                      </a:pPr>
                      <a:r>
                        <a:t>Final Outturn Forecast ($EAC)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827"/>
                          </a:solidFill>
                        </a:defRPr>
                      </a:pPr>
                      <a:r>
                        <a:t>$35.41M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827"/>
                          </a:solidFill>
                        </a:defRPr>
                      </a:pPr>
                      <a:r>
                        <a:t>Total EAC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827"/>
                          </a:solidFill>
                        </a:defRPr>
                      </a:pPr>
                      <a:r>
                        <a:t>Total Outturn Deficit: +$8.91M VAC (-33.6%)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4. Performance Measurement Baseline (S-Curves) &amp; Variances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Direct Variance Metrics &amp; Time Slippage Analysis at Status Date (Aug 31, 2026)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COST VARIANCE (CV = EV - AC)</a:t>
            </a:r>
          </a:p>
          <a:p>
            <a:pPr>
              <a:defRPr sz="1800" b="1">
                <a:solidFill>
                  <a:srgbClr val="DC2626"/>
                </a:solidFill>
              </a:defRPr>
            </a:pPr>
            <a:r>
              <a:t>-$5,900,000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-33.6% Cost Overrun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2801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SCHEDULE VARIANCE (SV = EV - PV)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-$2,960,000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-14.4% Value Delay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2801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EARNED SCHEDULE (ES)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7.40 Months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Actual Time Elapsed: 8.0M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280160"/>
            <a:ext cx="277337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TIME VARIANCE (SVT)</a:t>
            </a:r>
          </a:p>
          <a:p>
            <a:pPr>
              <a:defRPr sz="1800" b="1">
                <a:solidFill>
                  <a:srgbClr val="DC2626"/>
                </a:solidFill>
              </a:defRPr>
            </a:pPr>
            <a:r>
              <a:t>-18.2 Days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Behind Baseline Plan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560320"/>
          <a:ext cx="1127729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56170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Performance Metric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Formula / Standard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Current Value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Threshold Status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Operational Meaning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Planned Value (PV)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Baseline Schedule S-Curve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$20,500,000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Baseline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77.36% of work scope scheduled</a:t>
                      </a:r>
                    </a:p>
                  </a:txBody>
                  <a:tcPr/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Earned Value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Physical % Complete × BAC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$17,540,000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66.19% of work scope accomplished</a:t>
                      </a:r>
                    </a:p>
                  </a:txBody>
                  <a:tcPr/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Actual Spend (AC)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Cumulative General Ledger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$23,440,000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🚨 Exceeds 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Actual funds disbursed</a:t>
                      </a:r>
                    </a:p>
                  </a:txBody>
                  <a:tcPr/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Cost Performance Index (CPI)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EV / 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0.7483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🚨 Red (&lt; 0.90)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$0.75 earned value generated for every $1.00 spent</a:t>
                      </a:r>
                    </a:p>
                  </a:txBody>
                  <a:tcPr/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Schedule Index (SPI)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EV / 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0.8556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🟡 Amber (&lt; 0.95)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Scope earned velocity lags baseline schedule</a:t>
                      </a:r>
                    </a:p>
                  </a:txBody>
                  <a:tcPr/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TCPI (Target BAC)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(BAC - EV) / (BAC - 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6.07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🚨 Unviable (&gt; 1.10)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Impossible cost efficiency required to hit $26.50M BAC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5. Executive Variance Explanations &amp; Corrective Actions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Root Cause Analysis &amp; Accountable CAM Response Actions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8534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Variance Indicator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Status Metric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Root Cause Explanation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Actionable Next Steps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Cost Variance (CV)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-$5,900,000</a:t>
                      </a:r>
                    </a:p>
                    <a:p>
                      <a:r>
                        <a:t>(CPI = 0.75)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Structural fitting rework &amp; premium overtime at Verdal and Egersund yards.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Enforce Design Change Freeze on WBS 1.3. Convert open T&amp;M subcontracts to fixed unit-rate capped milestones.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O. Eriksen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Outturn Deficit (VAC)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-$8,913,604</a:t>
                      </a:r>
                    </a:p>
                    <a:p>
                      <a:r>
                        <a:t>(EAC: $35.41M)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Linear extrapolation of poor cost efficiency (CPI=0.75) yields 33.6% overrun.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Submit formal EAC re-baseline proposal. Request $3.50M drawdown from Management Reserve.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Frank Ellingsen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TCPI Target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6.07 (BAC)</a:t>
                      </a:r>
                    </a:p>
                    <a:p>
                      <a:r>
                        <a:t>(Unviable)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Original BAC ceiling requires impossible 607% cost efficiency for remaining work.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Formally transition target to TCPI_EAC = 1.00 based on approved $35.41M EAC.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Frank Ellingsen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Schedule Delay (SV)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-$2,960,000</a:t>
                      </a:r>
                    </a:p>
                    <a:p>
                      <a:r>
                        <a:t>(+31 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Tubular steel procurement delays cascaded to Verdal and Egersund yards.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Fast-track Egersund rigging with parallel work-fronts. Negotiate 10-day vessel window extension.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M. Berg / K. Solberg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WBS 1.3.2 Mast 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-$2,330,000</a:t>
                      </a:r>
                    </a:p>
                    <a:p>
                      <a:r>
                        <a:t>(CPI = 0.57)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Egersund rigging yard productivity bottleneck and excessive NDT rework.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Deploy resident Project Controller to Egersund. Audit daily timecards &amp; weld gates.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O. Eriksen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6. CFO Outturn Forecast &amp; Control Account Financials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Control Account Level EAC Outturns, Cost Variances &amp; Remaining ETC Liquidity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8"/>
              </a:tblGrid>
              <a:tr h="102412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WBS Code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Control Account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BAC Budget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Earned (EV)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Actual (AC)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Cost Var (CV)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CPI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Outturn EAC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1.1.1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Structural Steel Detail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$1,200,000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$1,200,000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$1,290,000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-$90,000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$1,290,000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1.2.1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High-Grade Tubular Steel 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$3,500,000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$3,500,000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$3,770,000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-$270,000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$3,770,000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1.3.1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Yard Sub-Structure Fabrication (Verdal)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$4,000,000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$4,450,000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-$850,000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$4,944,000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1.3.2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Derrick Tower Mast Assembly (Egersund)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$4,800,000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$3,120,000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$5,450,000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-$2,330,000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$8,385,000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7. Offshore EPC Gantt Schedule &amp; Critical Path Logic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10 Major Tasks, Predecessor Links, Critical Path (8 Tasks) &amp; Key 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42"/>
                <a:gridCol w="1611042"/>
                <a:gridCol w="1611042"/>
                <a:gridCol w="1611042"/>
                <a:gridCol w="1611042"/>
                <a:gridCol w="1611042"/>
                <a:gridCol w="1611043"/>
              </a:tblGrid>
              <a:tr h="46551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Task ID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WBS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Task Deliverable / Milestone Name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Predecessor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% Complete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Forecast Window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Critical Path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Structural Steel Detail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 05 - Mar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◆ Milestone: Engineering AFC Gate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T101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Achieved Mar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Achieved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Piping &amp; Drilling Package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T101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Feb 01 - Apr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High-Grade Tubular Steel 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T101 (+5D)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 15 - May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Yes (+31D)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Mud Pumps &amp; Top Drive Equipment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T102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Apr 01 - Jul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Yard Sub-Structure Fabrication (Verdal)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T103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 01 - Aug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◆ Milestone: Verdal Sub-Structure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T105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Aug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Derrick Tower Mast Assembly (Egersund)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T105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Jul 01 - Sep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Yes (-30D Float)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◆ Milestone: Derrick Mast Ready for Heavy Lift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T106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Sep 30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Critical Gate</a:t>
                      </a:r>
                    </a:p>
                  </a:txBody>
                  <a:tcPr/>
                </a:tc>
              </a:tr>
              <a:tr h="4655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Heavy Lift Vessel Mobilization (Heerema)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T106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Sep 15 - Oct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8. EPC Executive Risk Matrix &amp; Mitigation Register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5x5 Quantitative Probability vs. Impact Heatmap &amp; Primary Risk Exposures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8534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Risk ID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Risk Event Description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WBS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Exposure ($)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Mitigation Strategy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R01 (Score 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Egersund Mast Assembly Dimensional Out-of-Tolerance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1.3.2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O. Eriksen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$2,400,000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24/7 NDT welding specialists; fixed-fee labor cap.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R02 (Score 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Heavy Lift Crane Vessel Weather Standby 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1.4.1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K. Solberg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$1,800,000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Flexible weather window with Heerema; monitor 7-day wave height.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R03 (Score 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Subsea Tubular Steel Mill Delivery Lags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1.2.1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M. Berg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$1,200,000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Dual-source steel from European backup mills; hot-shot freight.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R04 (Score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Topside Lifting &amp; Mating Mechanical Interference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1.4.2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T. Nygård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Perform 3D laser scan trial fit prior to offshore mobilization.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R05 (Score 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Structural Engineering AFC Interface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1.1.1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H. Lindqvist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Enforce 100% 3D CAD clash detection &amp; DNV class verification.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9. Vertical Swimlane WBS Breakdown by Category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Control Account Summary per Discipline ($26.50M BAC → $35.41M Outturn EAC)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8534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WBS Category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Baseline BAC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Outturn EAC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Status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 Control Deliverables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$3.20M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$3.50M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100%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1.1.1 Structural Detail ($1.8M), 1.1.2 Piping ($1.4M)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1.2 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$8.50M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$9.10M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92.5%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1.2.1 Tubular Steel ($5.0M), 1.2.2 Drilling Pumps ($3.5M)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1.3 Yard Fabrication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$9.80M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$12.40M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77.5% 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1.3.1 Verdal ($5.0M), 1.3.2 Egersund Mast Rework ($4.8M)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1.4 Offshore Installation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$5.00M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$6.40M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15% 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1.4.1 Heavy Lift ($3.2M), 1.4.2 Topside Mating ($1.8M)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1.5 Commissioning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$1.80M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$2.00M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0% Unstarted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1.5.1 Hook-up &amp; NDT ($1.0M), 1.5.2 Pre-Comm ($0.8M)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